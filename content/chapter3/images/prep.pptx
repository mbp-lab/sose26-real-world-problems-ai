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E396C-0B0B-B3E7-1F6A-341E887EC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652AA-20D2-1CB7-C5E6-0B2FEAB3C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758A0-28DF-B3EE-8E93-271F6FA7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B5B1C-29F5-E5B0-B43B-E51B07990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D4E30-7C51-119F-FFFB-9DBBEE825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44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3B6AE-07DF-95B5-F6B6-2D80294C9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2AD32-0A44-EF33-BE5C-1BF4E330A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C86E7-A394-9FCA-CBF9-9BB227062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07BC8-6CCC-FACC-E82F-7CFC1F446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52127-6D57-F450-9ACC-0D51A0B35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23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F09C3-3EF4-F745-8A3F-28389A006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820C3-9550-AA81-3E0C-9F389F458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40B6F-B123-514F-AD0F-D444D367D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E2F07E-25DF-6598-D729-ACDC3600A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6C51F-D19A-55F0-D45A-872C58980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67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69CD-48F4-B53E-25BC-6E7CEC89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BDC2F-4DB1-AEB9-396E-311B86E48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AD688A-09C3-8148-8725-41EEF0CA83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26DFB-3523-4A83-914D-F1DCC6FB8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055DC-2E5C-5E90-E0DF-CF412087D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B2001D-81D2-6BCB-E9B2-07CFB97E8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057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04514-7E0D-EBA7-8303-461F8212A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37692-608D-09B9-47F3-C22CAEBBF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B6F1-D9D6-995A-92B0-A140664F5E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642361-BC80-D58B-A94A-36E18A6BB7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4F3E92-4561-6784-78DC-EF7CBF7A75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5424D-DF36-05C9-F1A3-26C19D893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5F1935-A973-2A02-A42F-14C5CFDB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88F987-A217-2EAA-8FF9-072C96CDC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02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AD3B8-B786-210E-F8C6-9A486E7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493081-A0F9-FA0D-2039-26F01362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C6E491-7EFB-D9D2-2B31-41772B94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24C2B3-6C84-F120-C811-111CFF6AA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6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DBBF34-E054-9B39-ABA2-F17552AC5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4E6D01-04D7-38F8-8CC1-0043E66BF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E03C62-8D89-00CD-E3A9-19CEE84C1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72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89CA7-DFE0-D6F3-1E89-5788D6B21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9A95-EEF3-CC0D-1715-B21D2AFAE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90B33-C9C4-5E58-B3A7-287920A79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B9615B-3388-E21E-66C3-815AAD74A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D5F74-8C07-8C11-3E6B-804602804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473BE8-0851-2FE9-F79D-D922984BA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558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650F-0480-36C1-05D7-CFD0C9D57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9BC483-1079-9055-5807-9B615FE52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2F6B6F-6B95-0833-6AD9-E1644E7A8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24F667-7BA9-337B-F9FC-0F18DBF50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15DFC-C083-87F2-98DE-F68AB1083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6884C3-4C91-B471-CDAD-F7E4A8595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163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3066F-A21D-0DC9-5F5D-1638EC213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DFDE1B-D887-E5F3-BA79-61106BB06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B6181-62A4-F6A2-6C8A-0D4C009D2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4E9B0-0AD4-91EB-26BB-FA27AEC3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CF3C2-4322-D7C7-DCDD-0E216D5A2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649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5F390A-422C-8C60-7D1E-B5FECDA3C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73A87-C4C1-831F-087A-FED49B7E5F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ED253-8898-C8D7-7481-97DE1B32E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6684B-AE52-3B00-9E80-1D2F94EE9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11D15-924E-991C-8864-F00B7739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241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53637D-BEE0-25D8-7EA7-41055341C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E840F-0D2D-8922-D0CC-89E7E15E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0BE1D-6097-DC13-690F-93008BADB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DCBB3-139F-304F-BF55-F9289371638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44207-9AFF-C87F-C687-5CD169A259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15AE1-0C50-5BCE-A0E1-472ACC5C0E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51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confusion matrix displaying the four possible outcomes of a binary... |  Download Scientific Diagram">
            <a:extLst>
              <a:ext uri="{FF2B5EF4-FFF2-40B4-BE49-F238E27FC236}">
                <a16:creationId xmlns:a16="http://schemas.microsoft.com/office/drawing/2014/main" id="{99FDC952-429D-9859-4EF1-B8D406796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332" y="895914"/>
            <a:ext cx="10384082" cy="4849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2089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9C89-8ED6-5471-E97A-C0E10DA0E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CE60456A-5E57-09C5-F3C9-DA65A3B59A0D}"/>
              </a:ext>
            </a:extLst>
          </p:cNvPr>
          <p:cNvGrpSpPr/>
          <p:nvPr/>
        </p:nvGrpSpPr>
        <p:grpSpPr>
          <a:xfrm>
            <a:off x="1255922" y="280713"/>
            <a:ext cx="6314467" cy="1007572"/>
            <a:chOff x="1255922" y="280713"/>
            <a:chExt cx="6314467" cy="100757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CCA1BAD6-5C2F-AAE0-3A46-13145541B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5922" y="280713"/>
              <a:ext cx="1040710" cy="100757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2623A2-F286-D414-BF23-95975B6C8BDE}"/>
                </a:ext>
              </a:extLst>
            </p:cNvPr>
            <p:cNvSpPr txBox="1"/>
            <p:nvPr/>
          </p:nvSpPr>
          <p:spPr>
            <a:xfrm>
              <a:off x="2732575" y="430556"/>
              <a:ext cx="483781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Same algorithmic accuracy should be </a:t>
              </a:r>
            </a:p>
            <a:p>
              <a:r>
                <a:rPr lang="en-US" sz="2000" dirty="0"/>
                <a:t>demonstrated for different groups 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5E40157-8015-ECE6-2BA2-8883AF061A95}"/>
              </a:ext>
            </a:extLst>
          </p:cNvPr>
          <p:cNvGrpSpPr/>
          <p:nvPr/>
        </p:nvGrpSpPr>
        <p:grpSpPr>
          <a:xfrm>
            <a:off x="1255922" y="1522480"/>
            <a:ext cx="8612389" cy="1007572"/>
            <a:chOff x="1255922" y="1502015"/>
            <a:chExt cx="8612389" cy="100757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42EC779-2987-56BE-6755-FE7E1344A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5922" y="1502015"/>
              <a:ext cx="1040710" cy="1007572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7524FF7-5F66-5D0C-A465-9C0584B363A1}"/>
                </a:ext>
              </a:extLst>
            </p:cNvPr>
            <p:cNvSpPr txBox="1"/>
            <p:nvPr/>
          </p:nvSpPr>
          <p:spPr>
            <a:xfrm>
              <a:off x="2732575" y="1651858"/>
              <a:ext cx="713573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The most important thing is not missing any dangerous people! </a:t>
              </a:r>
            </a:p>
            <a:p>
              <a:r>
                <a:rPr lang="en-US" sz="2000" dirty="0">
                  <a:solidFill>
                    <a:schemeClr val="bg2">
                      <a:lumMod val="75000"/>
                    </a:schemeClr>
                  </a:solidFill>
                </a:rPr>
                <a:t>(Equal opportunity)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F1D5FB9-4037-7BA6-3B29-042E39C1CE79}"/>
              </a:ext>
            </a:extLst>
          </p:cNvPr>
          <p:cNvGrpSpPr/>
          <p:nvPr/>
        </p:nvGrpSpPr>
        <p:grpSpPr>
          <a:xfrm>
            <a:off x="1255922" y="2764246"/>
            <a:ext cx="7888473" cy="1323439"/>
            <a:chOff x="1255922" y="2931225"/>
            <a:chExt cx="7888473" cy="132343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18020E0-47CC-6AD1-59BB-B2EC54F32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5922" y="3089158"/>
              <a:ext cx="1040710" cy="100757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A03D53F-B93D-BAB5-77B7-E60D15A511D4}"/>
                </a:ext>
              </a:extLst>
            </p:cNvPr>
            <p:cNvSpPr txBox="1"/>
            <p:nvPr/>
          </p:nvSpPr>
          <p:spPr>
            <a:xfrm>
              <a:off x="2732575" y="2931225"/>
              <a:ext cx="641182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All  injustice would be solved if we stopped seeing color! </a:t>
              </a:r>
            </a:p>
            <a:p>
              <a:r>
                <a:rPr lang="en-US" sz="2000" dirty="0"/>
                <a:t>Let’s just remove race out of the equation! </a:t>
              </a:r>
            </a:p>
            <a:p>
              <a:r>
                <a:rPr lang="en-US" sz="2000" dirty="0">
                  <a:solidFill>
                    <a:schemeClr val="bg2">
                      <a:lumMod val="75000"/>
                    </a:schemeClr>
                  </a:solidFill>
                </a:rPr>
                <a:t>(Fairness through unawareness)</a:t>
              </a:r>
            </a:p>
            <a:p>
              <a:endParaRPr lang="en-US" sz="20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B25B4A8-A283-4DA0-A349-38A356CE0765}"/>
              </a:ext>
            </a:extLst>
          </p:cNvPr>
          <p:cNvGrpSpPr/>
          <p:nvPr/>
        </p:nvGrpSpPr>
        <p:grpSpPr>
          <a:xfrm>
            <a:off x="1132355" y="5571737"/>
            <a:ext cx="9247698" cy="1007572"/>
            <a:chOff x="1132355" y="5571737"/>
            <a:chExt cx="9247698" cy="100757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2D5EE87-D901-33A7-B617-FA36B8E76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55" y="5571737"/>
              <a:ext cx="1040710" cy="1007572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C46098-4322-C506-05EF-5EAB81523E33}"/>
                </a:ext>
              </a:extLst>
            </p:cNvPr>
            <p:cNvSpPr txBox="1"/>
            <p:nvPr/>
          </p:nvSpPr>
          <p:spPr>
            <a:xfrm>
              <a:off x="2732575" y="5721580"/>
              <a:ext cx="764747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 believe fairness is only achieved if the groups had 50:50 outcomes!</a:t>
              </a:r>
            </a:p>
            <a:p>
              <a:r>
                <a:rPr lang="en-US" sz="2000" dirty="0">
                  <a:solidFill>
                    <a:schemeClr val="bg2">
                      <a:lumMod val="75000"/>
                    </a:schemeClr>
                  </a:solidFill>
                </a:rPr>
                <a:t>(Demographic parity)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523A83D-2EF9-ED03-E86D-E02DD9E683BC}"/>
              </a:ext>
            </a:extLst>
          </p:cNvPr>
          <p:cNvGrpSpPr/>
          <p:nvPr/>
        </p:nvGrpSpPr>
        <p:grpSpPr>
          <a:xfrm>
            <a:off x="1132355" y="4321879"/>
            <a:ext cx="6779908" cy="1015663"/>
            <a:chOff x="1132355" y="4382272"/>
            <a:chExt cx="6779908" cy="101566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EF3BF2C-6410-9CF8-DA16-13365B7DB0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55" y="4386317"/>
              <a:ext cx="1040710" cy="1007572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AA42933-285D-4FD7-773C-1BB638F6A448}"/>
                </a:ext>
              </a:extLst>
            </p:cNvPr>
            <p:cNvSpPr txBox="1"/>
            <p:nvPr/>
          </p:nvSpPr>
          <p:spPr>
            <a:xfrm>
              <a:off x="2732575" y="4382272"/>
              <a:ext cx="517968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If the algorithm makes any kind of mistake, </a:t>
              </a:r>
            </a:p>
            <a:p>
              <a:r>
                <a:rPr lang="en-US" sz="2000" dirty="0"/>
                <a:t>it shouldn’t affect one group more than other!</a:t>
              </a:r>
            </a:p>
            <a:p>
              <a:r>
                <a:rPr lang="en-US" sz="2000" dirty="0">
                  <a:solidFill>
                    <a:schemeClr val="bg2">
                      <a:lumMod val="75000"/>
                    </a:schemeClr>
                  </a:solidFill>
                </a:rPr>
                <a:t>(Equalized odds)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8572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88</Words>
  <Application>Microsoft Macintosh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Olya Hakobyan</dc:creator>
  <cp:lastModifiedBy>Olya Hakobyan</cp:lastModifiedBy>
  <cp:revision>3</cp:revision>
  <dcterms:created xsi:type="dcterms:W3CDTF">2026-06-12T16:15:15Z</dcterms:created>
  <dcterms:modified xsi:type="dcterms:W3CDTF">2026-06-12T17:47:04Z</dcterms:modified>
</cp:coreProperties>
</file>