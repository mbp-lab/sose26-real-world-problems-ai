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811"/>
    <p:restoredTop sz="93863"/>
  </p:normalViewPr>
  <p:slideViewPr>
    <p:cSldViewPr snapToGrid="0">
      <p:cViewPr>
        <p:scale>
          <a:sx n="90" d="100"/>
          <a:sy n="90" d="100"/>
        </p:scale>
        <p:origin x="1784" y="9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1E396C-0B0B-B3E7-1F6A-341E887ECD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1652AA-20D2-1CB7-C5E6-0B2FEAB3CA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D758A0-28DF-B3EE-8E93-271F6FA7FE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DCBB3-139F-304F-BF55-F9289371638F}" type="datetimeFigureOut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8B5B1C-29F5-E5B0-B43B-E51B07990F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8D4E30-7C51-119F-FFFB-9DBBEE825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F88D5-7E72-6148-8D6B-F65BCD9F55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59443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3B6AE-07DF-95B5-F6B6-2D80294C91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22AD32-0A44-EF33-BE5C-1BF4E330AB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FC86E7-A394-9FCA-CBF9-9BB2270629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DCBB3-139F-304F-BF55-F9289371638F}" type="datetimeFigureOut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507BC8-6CCC-FACC-E82F-7CFC1F4468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352127-6D57-F450-9ACC-0D51A0B354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F88D5-7E72-6148-8D6B-F65BCD9F55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7523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AF09C3-3EF4-F745-8A3F-28389A006C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6820C3-9550-AA81-3E0C-9F389F4587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440B6F-B123-514F-AD0F-D444D367DA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DCBB3-139F-304F-BF55-F9289371638F}" type="datetimeFigureOut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E2F07E-25DF-6598-D729-ACDC3600AF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6C51F-D19A-55F0-D45A-872C58980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F88D5-7E72-6148-8D6B-F65BCD9F55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88678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D69CD-48F4-B53E-25BC-6E7CEC898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1BDC2F-4DB1-AEB9-396E-311B86E486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AD688A-09C3-8148-8725-41EEF0CA83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926DFB-3523-4A83-914D-F1DCC6FB83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DCBB3-139F-304F-BF55-F9289371638F}" type="datetimeFigureOut">
              <a:rPr lang="en-US" smtClean="0"/>
              <a:t>6/18/26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8055DC-2E5C-5E90-E0DF-CF412087D6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B2001D-81D2-6BCB-E9B2-07CFB97E8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F88D5-7E72-6148-8D6B-F65BCD9F55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70578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04514-7E0D-EBA7-8303-461F8212AE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D37692-608D-09B9-47F3-C22CAEBBF6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01B6F1-D9D6-995A-92B0-A140664F5E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642361-BC80-D58B-A94A-36E18A6BB7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A4F3E92-4561-6784-78DC-EF7CBF7A75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A5424D-DF36-05C9-F1A3-26C19D893B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DCBB3-139F-304F-BF55-F9289371638F}" type="datetimeFigureOut">
              <a:rPr lang="en-US" smtClean="0"/>
              <a:t>6/18/26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65F1935-A973-2A02-A42F-14C5CFDBCB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C88F987-A217-2EAA-8FF9-072C96CDC1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F88D5-7E72-6148-8D6B-F65BCD9F55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7027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CAD3B8-B786-210E-F8C6-9A486E7B41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8493081-A0F9-FA0D-2039-26F01362B4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DCBB3-139F-304F-BF55-F9289371638F}" type="datetimeFigureOut">
              <a:rPr lang="en-US" smtClean="0"/>
              <a:t>6/18/26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C6E491-7EFB-D9D2-2B31-41772B944E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24C2B3-6C84-F120-C811-111CFF6AA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F88D5-7E72-6148-8D6B-F65BCD9F55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93696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DDBBF34-E054-9B39-ABA2-F17552AC57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DCBB3-139F-304F-BF55-F9289371638F}" type="datetimeFigureOut">
              <a:rPr lang="en-US" smtClean="0"/>
              <a:t>6/18/26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4E6D01-04D7-38F8-8CC1-0043E66BF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E03C62-8D89-00CD-E3A9-19CEE84C1E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F88D5-7E72-6148-8D6B-F65BCD9F55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721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089CA7-DFE0-D6F3-1E89-5788D6B216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959A95-EEF3-CC0D-1715-B21D2AFAE7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690B33-C9C4-5E58-B3A7-287920A79F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B9615B-3388-E21E-66C3-815AAD74A2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DCBB3-139F-304F-BF55-F9289371638F}" type="datetimeFigureOut">
              <a:rPr lang="en-US" smtClean="0"/>
              <a:t>6/18/26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9D5F74-8C07-8C11-3E6B-804602804F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473BE8-0851-2FE9-F79D-D922984BA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F88D5-7E72-6148-8D6B-F65BCD9F55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45585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6E650F-0480-36C1-05D7-CFD0C9D57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49BC483-1079-9055-5807-9B615FE525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2F6B6F-6B95-0833-6AD9-E1644E7A80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24F667-7BA9-337B-F9FC-0F18DBF502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DCBB3-139F-304F-BF55-F9289371638F}" type="datetimeFigureOut">
              <a:rPr lang="en-US" smtClean="0"/>
              <a:t>6/18/26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515DFC-C083-87F2-98DE-F68AB10833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6884C3-4C91-B471-CDAD-F7E4A8595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F88D5-7E72-6148-8D6B-F65BCD9F55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91633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43066F-A21D-0DC9-5F5D-1638EC213A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DFDE1B-D887-E5F3-BA79-61106BB06A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0B6181-62A4-F6A2-6C8A-0D4C009D2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DCBB3-139F-304F-BF55-F9289371638F}" type="datetimeFigureOut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54E9B0-0AD4-91EB-26BB-FA27AEC3B0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DCF3C2-4322-D7C7-DCDD-0E216D5A25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F88D5-7E72-6148-8D6B-F65BCD9F55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96494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5F390A-422C-8C60-7D1E-B5FECDA3C30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373A87-C4C1-831F-087A-FED49B7E5F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8ED253-8898-C8D7-7481-97DE1B32E8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DCBB3-139F-304F-BF55-F9289371638F}" type="datetimeFigureOut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86684B-AE52-3B00-9E80-1D2F94EE97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011D15-924E-991C-8864-F00B77398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F88D5-7E72-6148-8D6B-F65BCD9F55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42419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853637D-BEE0-25D8-7EA7-41055341C8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EE840F-0D2D-8922-D0CC-89E7E15EAF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10BE1D-6097-DC13-690F-93008BADB6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9FDCBB3-139F-304F-BF55-F9289371638F}" type="datetimeFigureOut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344207-9AFF-C87F-C687-5CD169A259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115AE1-0C50-5BCE-A0E1-472ACC5C0E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4F88D5-7E72-6148-8D6B-F65BCD9F55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34512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FF9C89-8ED6-5471-E97A-C0E10DA0E0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79F4333-BF77-7CCF-5347-B4C2E570A72D}"/>
              </a:ext>
            </a:extLst>
          </p:cNvPr>
          <p:cNvSpPr/>
          <p:nvPr/>
        </p:nvSpPr>
        <p:spPr>
          <a:xfrm>
            <a:off x="0" y="10516"/>
            <a:ext cx="12192000" cy="685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6C6B429-5398-9D44-732C-8DE9A2002274}"/>
              </a:ext>
            </a:extLst>
          </p:cNvPr>
          <p:cNvGrpSpPr/>
          <p:nvPr/>
        </p:nvGrpSpPr>
        <p:grpSpPr>
          <a:xfrm>
            <a:off x="572046" y="280713"/>
            <a:ext cx="9155970" cy="6456530"/>
            <a:chOff x="572046" y="280713"/>
            <a:chExt cx="9155970" cy="6456530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CE60456A-5E57-09C5-F3C9-DA65A3B59A0D}"/>
                </a:ext>
              </a:extLst>
            </p:cNvPr>
            <p:cNvGrpSpPr/>
            <p:nvPr/>
          </p:nvGrpSpPr>
          <p:grpSpPr>
            <a:xfrm>
              <a:off x="1255922" y="280713"/>
              <a:ext cx="6314467" cy="1007572"/>
              <a:chOff x="1255922" y="280713"/>
              <a:chExt cx="6314467" cy="1007572"/>
            </a:xfrm>
          </p:grpSpPr>
          <p:pic>
            <p:nvPicPr>
              <p:cNvPr id="2" name="Picture 1">
                <a:extLst>
                  <a:ext uri="{FF2B5EF4-FFF2-40B4-BE49-F238E27FC236}">
                    <a16:creationId xmlns:a16="http://schemas.microsoft.com/office/drawing/2014/main" id="{CCA1BAD6-5C2F-AAE0-3A46-13145541B2D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255922" y="280713"/>
                <a:ext cx="1040710" cy="1007572"/>
              </a:xfrm>
              <a:prstGeom prst="rect">
                <a:avLst/>
              </a:prstGeom>
            </p:spPr>
          </p:pic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82623A2-F286-D414-BF23-95975B6C8BDE}"/>
                  </a:ext>
                </a:extLst>
              </p:cNvPr>
              <p:cNvSpPr txBox="1"/>
              <p:nvPr/>
            </p:nvSpPr>
            <p:spPr>
              <a:xfrm>
                <a:off x="2732575" y="430556"/>
                <a:ext cx="4837814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Same algorithmic accuracy should be </a:t>
                </a:r>
              </a:p>
              <a:p>
                <a:r>
                  <a:rPr lang="en-US" sz="2000" dirty="0"/>
                  <a:t>demonstrated for different groups </a:t>
                </a:r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65E40157-8015-ECE6-2BA2-8883AF061A95}"/>
                </a:ext>
              </a:extLst>
            </p:cNvPr>
            <p:cNvGrpSpPr/>
            <p:nvPr/>
          </p:nvGrpSpPr>
          <p:grpSpPr>
            <a:xfrm>
              <a:off x="1255922" y="2893671"/>
              <a:ext cx="8472094" cy="1165506"/>
              <a:chOff x="1255922" y="1502015"/>
              <a:chExt cx="8472094" cy="1165506"/>
            </a:xfrm>
          </p:grpSpPr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442EC779-2987-56BE-6755-FE7E1344A50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255922" y="1502015"/>
                <a:ext cx="1040710" cy="1007572"/>
              </a:xfrm>
              <a:prstGeom prst="rect">
                <a:avLst/>
              </a:prstGeom>
            </p:spPr>
          </p:pic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7524FF7-5F66-5D0C-A465-9C0584B363A1}"/>
                  </a:ext>
                </a:extLst>
              </p:cNvPr>
              <p:cNvSpPr txBox="1"/>
              <p:nvPr/>
            </p:nvSpPr>
            <p:spPr>
              <a:xfrm>
                <a:off x="2732575" y="1651858"/>
                <a:ext cx="6995441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/>
                  <a:t>The most important thing is having the same true positive rate </a:t>
                </a:r>
              </a:p>
              <a:p>
                <a:r>
                  <a:rPr lang="en-US" sz="2000" dirty="0"/>
                  <a:t>for different groups! </a:t>
                </a:r>
              </a:p>
              <a:p>
                <a:r>
                  <a:rPr lang="en-US" sz="2000" dirty="0">
                    <a:solidFill>
                      <a:schemeClr val="bg2">
                        <a:lumMod val="75000"/>
                      </a:schemeClr>
                    </a:solidFill>
                  </a:rPr>
                  <a:t>(Equal opportunity)</a:t>
                </a:r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7F1D5FB9-4037-7BA6-3B29-042E39C1CE79}"/>
                </a:ext>
              </a:extLst>
            </p:cNvPr>
            <p:cNvGrpSpPr/>
            <p:nvPr/>
          </p:nvGrpSpPr>
          <p:grpSpPr>
            <a:xfrm>
              <a:off x="1255922" y="1479620"/>
              <a:ext cx="7888473" cy="1323439"/>
              <a:chOff x="1255922" y="2931225"/>
              <a:chExt cx="7888473" cy="1323439"/>
            </a:xfrm>
          </p:grpSpPr>
          <p:pic>
            <p:nvPicPr>
              <p:cNvPr id="12" name="Picture 11">
                <a:extLst>
                  <a:ext uri="{FF2B5EF4-FFF2-40B4-BE49-F238E27FC236}">
                    <a16:creationId xmlns:a16="http://schemas.microsoft.com/office/drawing/2014/main" id="{118020E0-47CC-6AD1-59BB-B2EC54F32A2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255922" y="3089158"/>
                <a:ext cx="1040710" cy="1007572"/>
              </a:xfrm>
              <a:prstGeom prst="rect">
                <a:avLst/>
              </a:prstGeom>
            </p:spPr>
          </p:pic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A03D53F-B93D-BAB5-77B7-E60D15A511D4}"/>
                  </a:ext>
                </a:extLst>
              </p:cNvPr>
              <p:cNvSpPr txBox="1"/>
              <p:nvPr/>
            </p:nvSpPr>
            <p:spPr>
              <a:xfrm>
                <a:off x="2732575" y="2931225"/>
                <a:ext cx="6411820" cy="132343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/>
                  <a:t>All  injustice would be solved if we stopped seeing color! </a:t>
                </a:r>
              </a:p>
              <a:p>
                <a:r>
                  <a:rPr lang="en-US" sz="2000" dirty="0"/>
                  <a:t>Let’s just remove race out of the equation! </a:t>
                </a:r>
              </a:p>
              <a:p>
                <a:r>
                  <a:rPr lang="en-US" sz="2000" dirty="0">
                    <a:solidFill>
                      <a:schemeClr val="bg2">
                        <a:lumMod val="75000"/>
                      </a:schemeClr>
                    </a:solidFill>
                  </a:rPr>
                  <a:t>(Fairness through unawareness)</a:t>
                </a:r>
              </a:p>
              <a:p>
                <a:endParaRPr lang="en-US" sz="2000" dirty="0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EB25B4A8-A283-4DA0-A349-38A356CE0765}"/>
                </a:ext>
              </a:extLst>
            </p:cNvPr>
            <p:cNvGrpSpPr/>
            <p:nvPr/>
          </p:nvGrpSpPr>
          <p:grpSpPr>
            <a:xfrm>
              <a:off x="1132355" y="5571737"/>
              <a:ext cx="7381483" cy="1165506"/>
              <a:chOff x="1132355" y="5571737"/>
              <a:chExt cx="7381483" cy="1165506"/>
            </a:xfrm>
          </p:grpSpPr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32D5EE87-D901-33A7-B617-FA36B8E76F1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132355" y="5571737"/>
                <a:ext cx="1040710" cy="1007572"/>
              </a:xfrm>
              <a:prstGeom prst="rect">
                <a:avLst/>
              </a:prstGeom>
            </p:spPr>
          </p:pic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FC46098-4322-C506-05EF-5EAB81523E33}"/>
                  </a:ext>
                </a:extLst>
              </p:cNvPr>
              <p:cNvSpPr txBox="1"/>
              <p:nvPr/>
            </p:nvSpPr>
            <p:spPr>
              <a:xfrm>
                <a:off x="2732575" y="5721580"/>
                <a:ext cx="5781263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/>
                  <a:t>I believe fairness is only achieved if the groups had </a:t>
                </a:r>
              </a:p>
              <a:p>
                <a:r>
                  <a:rPr lang="en-US" sz="2000" dirty="0"/>
                  <a:t>50:50 recidivism rate!</a:t>
                </a:r>
              </a:p>
              <a:p>
                <a:r>
                  <a:rPr lang="en-US" sz="2000" dirty="0">
                    <a:solidFill>
                      <a:schemeClr val="bg2">
                        <a:lumMod val="75000"/>
                      </a:schemeClr>
                    </a:solidFill>
                  </a:rPr>
                  <a:t>(Demographic parity)</a:t>
                </a:r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3523A83D-2EF9-ED03-E86D-E02DD9E683BC}"/>
                </a:ext>
              </a:extLst>
            </p:cNvPr>
            <p:cNvGrpSpPr/>
            <p:nvPr/>
          </p:nvGrpSpPr>
          <p:grpSpPr>
            <a:xfrm>
              <a:off x="1132355" y="4321879"/>
              <a:ext cx="6779908" cy="1015663"/>
              <a:chOff x="1132355" y="4382272"/>
              <a:chExt cx="6779908" cy="1015663"/>
            </a:xfrm>
          </p:grpSpPr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8EF3BF2C-6410-9CF8-DA16-13365B7DB0C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132355" y="4386317"/>
                <a:ext cx="1040710" cy="1007572"/>
              </a:xfrm>
              <a:prstGeom prst="rect">
                <a:avLst/>
              </a:prstGeom>
            </p:spPr>
          </p:pic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1AA42933-285D-4FD7-773C-1BB638F6A448}"/>
                  </a:ext>
                </a:extLst>
              </p:cNvPr>
              <p:cNvSpPr txBox="1"/>
              <p:nvPr/>
            </p:nvSpPr>
            <p:spPr>
              <a:xfrm>
                <a:off x="2732575" y="4382272"/>
                <a:ext cx="5179688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/>
                  <a:t>If the algorithm makes any kind of mistake, </a:t>
                </a:r>
              </a:p>
              <a:p>
                <a:r>
                  <a:rPr lang="en-US" sz="2000" dirty="0"/>
                  <a:t>it shouldn’t affect one group more than other!</a:t>
                </a:r>
              </a:p>
              <a:p>
                <a:r>
                  <a:rPr lang="en-US" sz="2000" dirty="0">
                    <a:solidFill>
                      <a:schemeClr val="bg2">
                        <a:lumMod val="75000"/>
                      </a:schemeClr>
                    </a:solidFill>
                  </a:rPr>
                  <a:t>(Equalized odds)</a:t>
                </a:r>
              </a:p>
            </p:txBody>
          </p:sp>
        </p:grpSp>
        <p:pic>
          <p:nvPicPr>
            <p:cNvPr id="25" name="Graphic 24" descr="Badge 1 with solid fill">
              <a:extLst>
                <a:ext uri="{FF2B5EF4-FFF2-40B4-BE49-F238E27FC236}">
                  <a16:creationId xmlns:a16="http://schemas.microsoft.com/office/drawing/2014/main" id="{AA1DCAFB-A6C4-3A29-1715-816A477F540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2046" y="509670"/>
              <a:ext cx="560309" cy="560309"/>
            </a:xfrm>
            <a:prstGeom prst="rect">
              <a:avLst/>
            </a:prstGeom>
          </p:spPr>
        </p:pic>
        <p:pic>
          <p:nvPicPr>
            <p:cNvPr id="27" name="Graphic 26" descr="Badge 3 with solid fill">
              <a:extLst>
                <a:ext uri="{FF2B5EF4-FFF2-40B4-BE49-F238E27FC236}">
                  <a16:creationId xmlns:a16="http://schemas.microsoft.com/office/drawing/2014/main" id="{301A1793-29BE-2992-54BD-7130231E59F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92446" y="3166211"/>
              <a:ext cx="519508" cy="519508"/>
            </a:xfrm>
            <a:prstGeom prst="rect">
              <a:avLst/>
            </a:prstGeom>
          </p:spPr>
        </p:pic>
        <p:pic>
          <p:nvPicPr>
            <p:cNvPr id="29" name="Graphic 28" descr="Badge with solid fill">
              <a:extLst>
                <a:ext uri="{FF2B5EF4-FFF2-40B4-BE49-F238E27FC236}">
                  <a16:creationId xmlns:a16="http://schemas.microsoft.com/office/drawing/2014/main" id="{8EC57C48-784A-567F-26E5-6A5C50E1653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79584" y="1766513"/>
              <a:ext cx="545233" cy="545233"/>
            </a:xfrm>
            <a:prstGeom prst="rect">
              <a:avLst/>
            </a:prstGeom>
          </p:spPr>
        </p:pic>
        <p:pic>
          <p:nvPicPr>
            <p:cNvPr id="31" name="Graphic 30" descr="Badge 4 with solid fill">
              <a:extLst>
                <a:ext uri="{FF2B5EF4-FFF2-40B4-BE49-F238E27FC236}">
                  <a16:creationId xmlns:a16="http://schemas.microsoft.com/office/drawing/2014/main" id="{2F5D2E9E-B9BB-DBAA-CCA3-6C01ED91433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92447" y="4569957"/>
              <a:ext cx="519507" cy="519507"/>
            </a:xfrm>
            <a:prstGeom prst="rect">
              <a:avLst/>
            </a:prstGeom>
          </p:spPr>
        </p:pic>
        <p:pic>
          <p:nvPicPr>
            <p:cNvPr id="33" name="Graphic 32" descr="Badge 5 with solid fill">
              <a:extLst>
                <a:ext uri="{FF2B5EF4-FFF2-40B4-BE49-F238E27FC236}">
                  <a16:creationId xmlns:a16="http://schemas.microsoft.com/office/drawing/2014/main" id="{0B165BA9-FD94-BF18-06B8-63DBDB4B80B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592447" y="5815770"/>
              <a:ext cx="519507" cy="51950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248572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119FDC-0C36-6A53-E0C0-7413E5BBF4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633F9D5-026B-FAB5-E0AC-8D8EB1E56C59}"/>
              </a:ext>
            </a:extLst>
          </p:cNvPr>
          <p:cNvSpPr/>
          <p:nvPr/>
        </p:nvSpPr>
        <p:spPr>
          <a:xfrm>
            <a:off x="1196788" y="1277471"/>
            <a:ext cx="3429000" cy="874058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True positive (TP)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recidivists identified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02B09BC-3B56-0B41-5AD6-9152B8D29C8F}"/>
              </a:ext>
            </a:extLst>
          </p:cNvPr>
          <p:cNvSpPr/>
          <p:nvPr/>
        </p:nvSpPr>
        <p:spPr>
          <a:xfrm>
            <a:off x="5006788" y="1277471"/>
            <a:ext cx="3429000" cy="87405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False positive (FP)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626A515-CFE5-494B-662E-150832A911EB}"/>
              </a:ext>
            </a:extLst>
          </p:cNvPr>
          <p:cNvSpPr/>
          <p:nvPr/>
        </p:nvSpPr>
        <p:spPr>
          <a:xfrm>
            <a:off x="1196788" y="2554942"/>
            <a:ext cx="3429000" cy="87405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False negative (FN)</a:t>
            </a: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….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8EAEC57-A49A-7767-069B-2F8E7D2278F2}"/>
              </a:ext>
            </a:extLst>
          </p:cNvPr>
          <p:cNvSpPr/>
          <p:nvPr/>
        </p:nvSpPr>
        <p:spPr>
          <a:xfrm>
            <a:off x="5006788" y="2554942"/>
            <a:ext cx="3429000" cy="874058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True negative (TN)</a:t>
            </a: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….</a:t>
            </a:r>
          </a:p>
        </p:txBody>
      </p:sp>
    </p:spTree>
    <p:extLst>
      <p:ext uri="{BB962C8B-B14F-4D97-AF65-F5344CB8AC3E}">
        <p14:creationId xmlns:p14="http://schemas.microsoft.com/office/powerpoint/2010/main" val="25961276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3630</TotalTime>
  <Words>118</Words>
  <Application>Microsoft Macintosh PowerPoint</Application>
  <PresentationFormat>Widescreen</PresentationFormat>
  <Paragraphs>22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Olya Hakobyan</dc:creator>
  <cp:lastModifiedBy>Olya Hakobyan</cp:lastModifiedBy>
  <cp:revision>8</cp:revision>
  <dcterms:created xsi:type="dcterms:W3CDTF">2026-06-12T16:15:15Z</dcterms:created>
  <dcterms:modified xsi:type="dcterms:W3CDTF">2026-06-18T01:30:08Z</dcterms:modified>
</cp:coreProperties>
</file>